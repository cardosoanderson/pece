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f/JnmLmm9tXV0DseLDJBlPSWM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3e3f18b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g3f3e3f18b4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dd07da04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edd07da04d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dd07da04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edd07da04d_0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dd07da04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edd07da04d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4.png"/><Relationship Id="rId13" Type="http://schemas.openxmlformats.org/officeDocument/2006/relationships/image" Target="../media/image34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13.png"/><Relationship Id="rId1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21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39.png"/><Relationship Id="rId7" Type="http://schemas.openxmlformats.org/officeDocument/2006/relationships/image" Target="../media/image38.pn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png"/><Relationship Id="rId10" Type="http://schemas.openxmlformats.org/officeDocument/2006/relationships/image" Target="../media/image32.png"/><Relationship Id="rId13" Type="http://schemas.openxmlformats.org/officeDocument/2006/relationships/image" Target="../media/image37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Relationship Id="rId9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Relationship Id="rId6" Type="http://schemas.openxmlformats.org/officeDocument/2006/relationships/image" Target="../media/image45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3e3f18b47_0_0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g3f3e3f18b47_0_0"/>
          <p:cNvSpPr txBox="1"/>
          <p:nvPr/>
        </p:nvSpPr>
        <p:spPr>
          <a:xfrm>
            <a:off x="1613774" y="1704515"/>
            <a:ext cx="900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Poppins"/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DISTRIBUIDORAS UTILITIES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f3e3f18b47_0_0"/>
          <p:cNvSpPr txBox="1"/>
          <p:nvPr/>
        </p:nvSpPr>
        <p:spPr>
          <a:xfrm>
            <a:off x="1613774" y="2443596"/>
            <a:ext cx="9001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388"/>
              </a:buClr>
              <a:buSzPts val="1650"/>
              <a:buFont typeface="Poppins SemiBold"/>
              <a:buNone/>
            </a:pPr>
            <a:r>
              <a:rPr b="0" i="0" lang="en-US" sz="1650" u="none" cap="none" strike="noStrike">
                <a:solidFill>
                  <a:srgbClr val="00A3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ENERGIA, GÁS E ÁGUA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g3f3e3f18b47_0_0"/>
          <p:cNvSpPr txBox="1"/>
          <p:nvPr/>
        </p:nvSpPr>
        <p:spPr>
          <a:xfrm>
            <a:off x="1616510" y="3043671"/>
            <a:ext cx="9001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000"/>
              <a:buFont typeface="Poppins"/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Inteligência Artificial para Liberação Automática de Documentos de Faturamento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g3f3e3f18b47_0_0"/>
          <p:cNvSpPr txBox="1"/>
          <p:nvPr/>
        </p:nvSpPr>
        <p:spPr>
          <a:xfrm>
            <a:off x="1892262" y="4313046"/>
            <a:ext cx="857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Lato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Machine Learning aplicado ao processo Meter-to-Cash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" name="Google Shape;20;g3f3e3f18b4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999" y="990140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" name="Google Shape;21;g3f3e3f18b4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6224" y="990140"/>
            <a:ext cx="323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" name="Google Shape;22;g3f3e3f18b47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5824" y="990140"/>
            <a:ext cx="323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f3e3f18b47_0_0"/>
          <p:cNvSpPr txBox="1"/>
          <p:nvPr/>
        </p:nvSpPr>
        <p:spPr>
          <a:xfrm>
            <a:off x="449395" y="5566705"/>
            <a:ext cx="250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Lato"/>
              <a:buNone/>
            </a:pPr>
            <a:r>
              <a:rPr lang="en-US" sz="1200">
                <a:solidFill>
                  <a:schemeClr val="dk1"/>
                </a:solidFill>
              </a:rPr>
              <a:t>Anderson Eduardo Santos Cardoso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Lato"/>
              <a:buNone/>
            </a:pPr>
            <a:r>
              <a:rPr lang="en-US" sz="1200">
                <a:solidFill>
                  <a:schemeClr val="dk1"/>
                </a:solidFill>
              </a:rPr>
              <a:t>Anthony Moura Carvalho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Lato"/>
              <a:buNone/>
            </a:pPr>
            <a:r>
              <a:rPr lang="en-US" sz="1200">
                <a:solidFill>
                  <a:schemeClr val="dk1"/>
                </a:solidFill>
              </a:rPr>
              <a:t>César Jesus Silva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Lato"/>
              <a:buNone/>
            </a:pPr>
            <a:r>
              <a:rPr lang="en-US" sz="1200">
                <a:solidFill>
                  <a:schemeClr val="dk1"/>
                </a:solidFill>
              </a:rPr>
              <a:t>Denis Henrique Kulh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Lato"/>
              <a:buNone/>
            </a:pPr>
            <a:r>
              <a:rPr lang="en-US" sz="1200">
                <a:solidFill>
                  <a:schemeClr val="dk1"/>
                </a:solidFill>
              </a:rPr>
              <a:t>Igor Canan Kfouri</a:t>
            </a:r>
            <a:endParaRPr sz="120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" name="Google Shape;24;g3f3e3f18b47_0_0"/>
          <p:cNvSpPr txBox="1"/>
          <p:nvPr/>
        </p:nvSpPr>
        <p:spPr>
          <a:xfrm>
            <a:off x="7870800" y="5566705"/>
            <a:ext cx="403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PROGRAMA DE EDUCAÇÃO CONTINUADA (PECE)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Disciplina: IAD-002	Negócios com Inteligência Artificial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Professora: Patrícia Pampanelli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0292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8F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BFD8F0"/>
                </a:solidFill>
                <a:latin typeface="Arial"/>
                <a:ea typeface="Arial"/>
                <a:cs typeface="Arial"/>
                <a:sym typeface="Arial"/>
              </a:rPr>
              <a:t>BUSINESS CASE EXECUTIVO | UTILITIES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" y="749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1. O Cenário Atual e o Desafio Operacional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02920" y="1216152"/>
            <a:ext cx="73152" cy="310896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Estratégia &amp; Business Case: IA no Processo Meter-to-Cash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1430000" y="653796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85800" y="1389888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45"/>
              <a:buFont typeface="Arial"/>
              <a:buNone/>
            </a:pPr>
            <a:r>
              <a:rPr b="0" i="0" lang="en-US" sz="1445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Milhares de documentos de faturamento são retidos por regras de negócio para mitigar riscos comerciais e regulatórios.</a:t>
            </a:r>
            <a:endParaRPr b="0" i="0" sz="144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85800" y="1901952"/>
            <a:ext cx="5257800" cy="3154680"/>
          </a:xfrm>
          <a:prstGeom prst="roundRect">
            <a:avLst>
              <a:gd fmla="val 2319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914400" y="21396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Principais gatilhos de exceção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14400" y="2757107"/>
            <a:ext cx="45720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Anomalias de consumo: </a:t>
            </a:r>
            <a: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desvios abruptos, sazonalidade, picos ou quedas.</a:t>
            </a:r>
            <a:endParaRPr b="0" i="0" sz="132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20"/>
              <a:buFont typeface="Arial"/>
              <a:buNone/>
            </a:pPr>
            <a:b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Regras tarifárias complexas: </a:t>
            </a:r>
            <a: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mudanças de grupo, subsídios e impostos dinâmicos.</a:t>
            </a:r>
            <a:endParaRPr b="0" i="0" sz="132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20"/>
              <a:buFont typeface="Arial"/>
              <a:buNone/>
            </a:pPr>
            <a:b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Inconsistências cadastrais: </a:t>
            </a:r>
            <a: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divergências entre instalação física e registro comercial.</a:t>
            </a:r>
            <a:endParaRPr b="0" i="0" sz="132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20"/>
              <a:buFont typeface="Arial"/>
              <a:buNone/>
            </a:pPr>
            <a:b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Validações regulatórias: </a:t>
            </a:r>
            <a: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critérios estritos dos órgãos reguladores.</a:t>
            </a:r>
            <a:br>
              <a:rPr b="0" i="0" lang="en-US" sz="13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263640" y="1901952"/>
            <a:ext cx="5166360" cy="1828800"/>
          </a:xfrm>
          <a:prstGeom prst="roundRect">
            <a:avLst>
              <a:gd fmla="val 4000" name="adj"/>
            </a:avLst>
          </a:prstGeom>
          <a:solidFill>
            <a:srgbClr val="F7FAFE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263640" y="1901952"/>
            <a:ext cx="64008" cy="1828800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565392" y="214884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Fluxo Operacional Atual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7287768" y="2980944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073E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" name="Google Shape;44;p2"/>
          <p:cNvCxnSpPr/>
          <p:nvPr/>
        </p:nvCxnSpPr>
        <p:spPr>
          <a:xfrm>
            <a:off x="8659368" y="2980944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073E7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" name="Google Shape;45;p2"/>
          <p:cNvCxnSpPr/>
          <p:nvPr/>
        </p:nvCxnSpPr>
        <p:spPr>
          <a:xfrm>
            <a:off x="10030968" y="2980944"/>
            <a:ext cx="438912" cy="0"/>
          </a:xfrm>
          <a:prstGeom prst="straightConnector1">
            <a:avLst/>
          </a:prstGeom>
          <a:noFill/>
          <a:ln cap="flat" cmpd="sng" w="19050">
            <a:solidFill>
              <a:srgbClr val="073E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" name="Google Shape;46;p2"/>
          <p:cNvSpPr/>
          <p:nvPr/>
        </p:nvSpPr>
        <p:spPr>
          <a:xfrm>
            <a:off x="6537960" y="2743200"/>
            <a:ext cx="859536" cy="50292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583680" y="2834640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Gerado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909560" y="2743200"/>
            <a:ext cx="859536" cy="50292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955280" y="2834640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Exceção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281160" y="2743200"/>
            <a:ext cx="859536" cy="50292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9326880" y="2834640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Análise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0561320" y="2743200"/>
            <a:ext cx="859536" cy="50292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10607040" y="2834640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878"/>
              <a:buFont typeface="Arial"/>
              <a:buNone/>
            </a:pPr>
            <a:r>
              <a:rPr b="1" i="0" lang="en-US" sz="879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Liberação/</a:t>
            </a:r>
            <a:endParaRPr b="0" i="0" sz="87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878"/>
              <a:buFont typeface="Arial"/>
              <a:buNone/>
            </a:pPr>
            <a:r>
              <a:rPr b="1" i="0" lang="en-US" sz="879" u="none" cap="none" strike="noStrike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Correção</a:t>
            </a:r>
            <a:endParaRPr b="0" i="0" sz="87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263640" y="4005072"/>
            <a:ext cx="5166360" cy="1143000"/>
          </a:xfrm>
          <a:prstGeom prst="roundRect">
            <a:avLst>
              <a:gd fmla="val 6400" name="adj"/>
            </a:avLst>
          </a:prstGeom>
          <a:solidFill>
            <a:srgbClr val="FFF7F1"/>
          </a:solidFill>
          <a:ln cap="flat" cmpd="sng" w="12700">
            <a:solidFill>
              <a:srgbClr val="FAD4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263640" y="4005072"/>
            <a:ext cx="64008" cy="1143000"/>
          </a:xfrm>
          <a:prstGeom prst="rect">
            <a:avLst/>
          </a:prstGeom>
          <a:solidFill>
            <a:srgbClr val="F15A24"/>
          </a:solidFill>
          <a:ln cap="flat" cmpd="sng" w="12700">
            <a:solidFill>
              <a:srgbClr val="F15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565392" y="422452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5A2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15A24"/>
                </a:solidFill>
                <a:latin typeface="Arial"/>
                <a:ea typeface="Arial"/>
                <a:cs typeface="Arial"/>
                <a:sym typeface="Arial"/>
              </a:rPr>
              <a:t>Impactos críticos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565392" y="4553712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22"/>
              <a:buFont typeface="Arial"/>
              <a:buNone/>
            </a:pPr>
            <a:r>
              <a:rPr b="0" i="0" lang="en-US" sz="1023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Alto esforço operacional, gargalos no fechamento mensal, custos administrativos elevados e dependência de conhecimento especializado.</a:t>
            </a:r>
            <a:endParaRPr b="0" i="0" sz="102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85800" y="5413248"/>
            <a:ext cx="10744200" cy="749808"/>
          </a:xfrm>
          <a:prstGeom prst="roundRect">
            <a:avLst>
              <a:gd fmla="val 9756" name="adj"/>
            </a:avLst>
          </a:prstGeom>
          <a:solidFill>
            <a:srgbClr val="FFF2E8"/>
          </a:solidFill>
          <a:ln cap="flat" cmpd="sng" w="12700">
            <a:solidFill>
              <a:srgbClr val="FAD4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685800" y="5413248"/>
            <a:ext cx="64008" cy="749808"/>
          </a:xfrm>
          <a:prstGeom prst="rect">
            <a:avLst/>
          </a:prstGeom>
          <a:solidFill>
            <a:srgbClr val="F15A24"/>
          </a:solidFill>
          <a:ln cap="flat" cmpd="sng" w="12700">
            <a:solidFill>
              <a:srgbClr val="F15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960120" y="5596128"/>
            <a:ext cx="6949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481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B4481C"/>
                </a:solidFill>
                <a:latin typeface="Arial"/>
                <a:ea typeface="Arial"/>
                <a:cs typeface="Arial"/>
                <a:sym typeface="Arial"/>
              </a:rPr>
              <a:t>Desafio central de projeto: confiabilidade dos dados para treinamento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60120" y="5843016"/>
            <a:ext cx="9509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65"/>
              <a:buFont typeface="Arial"/>
              <a:buNone/>
            </a:pPr>
            <a:r>
              <a:rPr b="0" i="0" lang="en-US" sz="1166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modelo só aprende corretamente com histórico saneado: liberações legítimas vs. correções reais, sem ruídos cadastrais.</a:t>
            </a:r>
            <a:endParaRPr b="0" i="0" sz="116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1730" y="2288381"/>
            <a:ext cx="4419600" cy="2100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" name="Google Shape;6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0" y="2955131"/>
            <a:ext cx="9144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" name="Google Shape;7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54212" y="4555331"/>
            <a:ext cx="320040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762000" y="4762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550"/>
              <a:buFont typeface="Poppins SemiBold"/>
              <a:buNone/>
            </a:pPr>
            <a:r>
              <a:rPr b="0" i="0" lang="en-US" sz="2550" u="none" cap="none" strike="noStrike">
                <a:solidFill>
                  <a:srgbClr val="002D7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Ciclo Meter-to-Cash Ponta a Ponta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571500" y="5207793"/>
            <a:ext cx="11049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Lato"/>
              <a:buNone/>
            </a:pPr>
            <a:r>
              <a:rPr b="0" i="1" lang="en-US" sz="14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 modelo de IA atua como uma camada de decisão inteligente nas etapas de </a:t>
            </a:r>
            <a:r>
              <a:rPr b="1" i="1" lang="en-US" sz="14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Validação (VEE)</a:t>
            </a:r>
            <a:r>
              <a:rPr b="0" i="1" lang="en-US" sz="14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b="1" i="1" lang="en-US" sz="14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Cálculo de Consumo</a:t>
            </a:r>
            <a:r>
              <a:rPr b="0" i="1" lang="en-US" sz="14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, antecipando correções antes da emissão do Faturamento Final.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4" name="Google Shape;7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0625" y="2526506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 txBox="1"/>
          <p:nvPr/>
        </p:nvSpPr>
        <p:spPr>
          <a:xfrm>
            <a:off x="914400" y="3526631"/>
            <a:ext cx="1409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1125"/>
              <a:buFont typeface="Poppins SemiBold"/>
              <a:buNone/>
            </a:pPr>
            <a:r>
              <a:rPr b="0" i="0" lang="en-US" sz="1125" u="none" cap="none" strike="noStrike">
                <a:solidFill>
                  <a:srgbClr val="002D7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MEDIÇÃO / COLETA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995362" y="3793331"/>
            <a:ext cx="1247775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25"/>
              <a:buFont typeface="Lato"/>
              <a:buNone/>
            </a:pPr>
            <a:r>
              <a:rPr b="0" i="0" lang="en-US" sz="8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Leiturista | Remota | Massa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7" name="Google Shape;7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29000" y="2526506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 txBox="1"/>
          <p:nvPr/>
        </p:nvSpPr>
        <p:spPr>
          <a:xfrm>
            <a:off x="3224212" y="3526631"/>
            <a:ext cx="12668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2CE"/>
              </a:buClr>
              <a:buSzPts val="1125"/>
              <a:buFont typeface="Poppins SemiBold"/>
              <a:buNone/>
            </a:pPr>
            <a:r>
              <a:rPr b="0" i="0" lang="en-US" sz="1125" u="none" cap="none" strike="noStrike">
                <a:solidFill>
                  <a:srgbClr val="0072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VALIDAÇÃO / VEE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3281362" y="3793331"/>
            <a:ext cx="1152525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25"/>
              <a:buFont typeface="Lato"/>
              <a:buNone/>
            </a:pPr>
            <a:r>
              <a:rPr b="0" i="0" lang="en-US" sz="8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Plausibilidade de Limites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0" name="Google Shape;8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526506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 txBox="1"/>
          <p:nvPr/>
        </p:nvSpPr>
        <p:spPr>
          <a:xfrm>
            <a:off x="5705475" y="3526631"/>
            <a:ext cx="7810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2CE"/>
              </a:buClr>
              <a:buSzPts val="1125"/>
              <a:buFont typeface="Poppins SemiBold"/>
              <a:buNone/>
            </a:pPr>
            <a:r>
              <a:rPr b="0" i="0" lang="en-US" sz="1125" u="none" cap="none" strike="noStrike">
                <a:solidFill>
                  <a:srgbClr val="0072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CONSUMO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5657850" y="3793331"/>
            <a:ext cx="876300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25"/>
              <a:buFont typeface="Lato"/>
              <a:buNone/>
            </a:pPr>
            <a:r>
              <a:rPr b="0" i="0" lang="en-US" sz="8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Cálculo e Tarifação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3" name="Google Shape;8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5750" y="2526506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/>
        </p:nvSpPr>
        <p:spPr>
          <a:xfrm>
            <a:off x="7786687" y="3526631"/>
            <a:ext cx="1095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1125"/>
              <a:buFont typeface="Poppins SemiBold"/>
              <a:buNone/>
            </a:pPr>
            <a:r>
              <a:rPr b="0" i="0" lang="en-US" sz="1125" u="none" cap="none" strike="noStrike">
                <a:solidFill>
                  <a:srgbClr val="002D7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FATURAMENTO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7796212" y="3793331"/>
            <a:ext cx="1076325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25"/>
              <a:buFont typeface="Lato"/>
              <a:buNone/>
            </a:pPr>
            <a:r>
              <a:rPr b="0" i="0" lang="en-US" sz="8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Geração do Documento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6" name="Google Shape;8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44125" y="2526506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10148887" y="3526631"/>
            <a:ext cx="8477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1125"/>
              <a:buFont typeface="Poppins SemiBold"/>
              <a:buNone/>
            </a:pPr>
            <a:r>
              <a:rPr b="0" i="0" lang="en-US" sz="1125" u="none" cap="none" strike="noStrike">
                <a:solidFill>
                  <a:srgbClr val="002D7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IMPRESSÃO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10053637" y="3793331"/>
            <a:ext cx="1038225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25"/>
              <a:buFont typeface="Lato"/>
              <a:buNone/>
            </a:pPr>
            <a:r>
              <a:rPr b="0" i="0" lang="en-US" sz="8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Entrega Física / Digital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9" name="Google Shape;8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87080" y="4040981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66850" y="280273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05225" y="280273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81700" y="2802731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20075" y="2802731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420350" y="2802731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394713" y="1433713"/>
            <a:ext cx="952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Lato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 perdas comerciais e de faturamento no setor brasileiro de utilities são estruturais e mensuráveis. Na energia, a ANEEL atribui </a:t>
            </a:r>
            <a:r>
              <a:rPr b="1" lang="en-US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R$ 10,3 bi/ano a perdas não técnicas</a:t>
            </a:r>
            <a:r>
              <a:rPr lang="en-US" sz="1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, que incluem erros de leitura, medição e faturamento. </a:t>
            </a:r>
            <a:endParaRPr sz="16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52" y="2271436"/>
            <a:ext cx="11291725" cy="407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/>
        </p:nvSpPr>
        <p:spPr>
          <a:xfrm>
            <a:off x="571500" y="6286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000"/>
              <a:buFont typeface="Poppins SemiBold"/>
              <a:buNone/>
            </a:pPr>
            <a:r>
              <a:rPr lang="en-US"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Elo Comercial do Meter-to-Cash Custa Bilhões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dd07da04d_0_73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edd07da04d_0_73"/>
          <p:cNvSpPr txBox="1"/>
          <p:nvPr/>
        </p:nvSpPr>
        <p:spPr>
          <a:xfrm>
            <a:off x="571500" y="6286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000"/>
              <a:buFont typeface="Poppins SemiBold"/>
              <a:buNone/>
            </a:pPr>
            <a:r>
              <a:rPr lang="en-US"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Onde o Dinheiro Trava: a Fila de Faturas em Exceção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g3edd07da04d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75" y="1661700"/>
            <a:ext cx="11367649" cy="121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edd07da04d_0_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30725"/>
            <a:ext cx="11887196" cy="2978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dd07da04d_0_8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edd07da04d_0_85"/>
          <p:cNvSpPr txBox="1"/>
          <p:nvPr/>
        </p:nvSpPr>
        <p:spPr>
          <a:xfrm>
            <a:off x="571500" y="6286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000"/>
              <a:buFont typeface="Poppins SemiBold"/>
              <a:buNone/>
            </a:pPr>
            <a:r>
              <a:rPr lang="en-US" sz="3000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Um Modelo de Valor Calibrável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g3edd07da04d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" y="1485209"/>
            <a:ext cx="11506200" cy="508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g3edd07da04d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g3edd07da04d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2125"/>
            <a:ext cx="342900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g3edd07da04d_0_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762125"/>
            <a:ext cx="342900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g3edd07da04d_0_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762125"/>
            <a:ext cx="342900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edd07da04d_0_40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7" name="Google Shape;127;g3edd07da04d_0_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5000" y="20574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edd07da04d_0_40"/>
          <p:cNvSpPr txBox="1"/>
          <p:nvPr/>
        </p:nvSpPr>
        <p:spPr>
          <a:xfrm>
            <a:off x="795813" y="3057525"/>
            <a:ext cx="298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Poppins SemiBold"/>
              <a:buNone/>
            </a:pPr>
            <a:r>
              <a:rPr b="0" i="0" lang="en-US" sz="21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Pergunta de Negócio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edd07da04d_0_40"/>
          <p:cNvSpPr txBox="1"/>
          <p:nvPr/>
        </p:nvSpPr>
        <p:spPr>
          <a:xfrm>
            <a:off x="866775" y="4191000"/>
            <a:ext cx="2838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Dado que um documento já está em exceção, qual a real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probabilidade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ele ser liberado sem necessidade de correções manuais?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0" name="Google Shape;130;g3edd07da04d_0_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0574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edd07da04d_0_40"/>
          <p:cNvSpPr txBox="1"/>
          <p:nvPr/>
        </p:nvSpPr>
        <p:spPr>
          <a:xfrm>
            <a:off x="4710826" y="3057525"/>
            <a:ext cx="277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Poppins SemiBold"/>
              <a:buNone/>
            </a:pPr>
            <a:r>
              <a:rPr b="0" i="0" lang="en-US" sz="21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Como a IA Aprende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edd07da04d_0_40"/>
          <p:cNvSpPr txBox="1"/>
          <p:nvPr/>
        </p:nvSpPr>
        <p:spPr>
          <a:xfrm>
            <a:off x="4676775" y="3790950"/>
            <a:ext cx="2838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algoritmo identifica padrões baseados no histórico de liberações, correções anteriores, casos similares e decisões passadas dos especialistas.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3" name="Google Shape;133;g3edd07da04d_0_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0" y="20574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edd07da04d_0_40"/>
          <p:cNvSpPr txBox="1"/>
          <p:nvPr/>
        </p:nvSpPr>
        <p:spPr>
          <a:xfrm>
            <a:off x="8640841" y="3057525"/>
            <a:ext cx="253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Poppins SemiBold"/>
              <a:buNone/>
            </a:pPr>
            <a:r>
              <a:rPr b="0" i="0" lang="en-US" sz="21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 Principal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edd07da04d_0_40"/>
          <p:cNvSpPr txBox="1"/>
          <p:nvPr/>
        </p:nvSpPr>
        <p:spPr>
          <a:xfrm>
            <a:off x="8486775" y="3790950"/>
            <a:ext cx="2838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Direcionar automaticamente documentos de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baixo risco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liberação, reservando a equipe humana apenas para casos críticos.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6" name="Google Shape;136;g3edd07da04d_0_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62175" y="2271712"/>
            <a:ext cx="2476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g3edd07da04d_0_4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29312" y="2271712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g3edd07da04d_0_4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39312" y="2271712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edd07da04d_0_40"/>
          <p:cNvSpPr txBox="1"/>
          <p:nvPr/>
        </p:nvSpPr>
        <p:spPr>
          <a:xfrm>
            <a:off x="571500" y="6286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000"/>
              <a:buFont typeface="Poppins SemiBold"/>
              <a:buNone/>
            </a:pPr>
            <a:r>
              <a:rPr b="0" i="0" lang="en-US" sz="30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Oportunidade com IA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1118889" y="1551977"/>
            <a:ext cx="9525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Lato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inteligência atua no momento exato de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gargalo do faturamento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após as validações técnicas tradicionais e o bloqueio sistêmico do ERP.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676400" y="4656263"/>
            <a:ext cx="8839200" cy="573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8" name="Google Shape;1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160" y="3276600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 txBox="1"/>
          <p:nvPr/>
        </p:nvSpPr>
        <p:spPr>
          <a:xfrm>
            <a:off x="650914" y="4815780"/>
            <a:ext cx="194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1. Coleta de Leitura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571500" y="5158680"/>
            <a:ext cx="20991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Captura dos índices de consumo em campo.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4494" y="3276600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2973258" y="4815780"/>
            <a:ext cx="177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2. Validação Téc.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2808833" y="5158680"/>
            <a:ext cx="20991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sistema processa a leitura bruta.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4" name="Google Shape;15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1827" y="3276600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5300602" y="4815780"/>
            <a:ext cx="159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3. Faturamento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5046166" y="5158680"/>
            <a:ext cx="20991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Geração do documento financeiro.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7" name="Google Shape;15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30579" y="3198018"/>
            <a:ext cx="1204912" cy="120491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/>
        </p:nvSpPr>
        <p:spPr>
          <a:xfrm>
            <a:off x="7255400" y="4786312"/>
            <a:ext cx="20202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Clr>
                <a:srgbClr val="00A388"/>
              </a:buClr>
              <a:buSzPts val="1650"/>
              <a:buFont typeface="Poppins"/>
              <a:buNone/>
            </a:pPr>
            <a:r>
              <a:rPr b="1" i="0" lang="en-US" sz="1650" u="none" cap="none" strike="noStrike">
                <a:solidFill>
                  <a:srgbClr val="00A388"/>
                </a:solidFill>
                <a:latin typeface="Poppins"/>
                <a:ea typeface="Poppins"/>
                <a:cs typeface="Poppins"/>
                <a:sym typeface="Poppins"/>
              </a:rPr>
              <a:t>4. Triagem com IA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7632948" y="5206751"/>
            <a:ext cx="14001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Onde a Solução Atua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0" name="Google Shape;16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46493" y="3276600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 txBox="1"/>
          <p:nvPr/>
        </p:nvSpPr>
        <p:spPr>
          <a:xfrm>
            <a:off x="9640252" y="4815780"/>
            <a:ext cx="186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5. Ação &amp; Emissão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9520832" y="5158680"/>
            <a:ext cx="20991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Lato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Destinação baseada na probabilidade calculada.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3" name="Google Shape;163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06723" y="36099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 txBox="1"/>
          <p:nvPr/>
        </p:nvSpPr>
        <p:spPr>
          <a:xfrm>
            <a:off x="1068585" y="5785246"/>
            <a:ext cx="1295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Leiturista (Manual)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1068585" y="6056709"/>
            <a:ext cx="1295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Telemetria (Remota)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1068585" y="6328171"/>
            <a:ext cx="1295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Memória de Massa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7" name="Google Shape;167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67869" y="36099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5"/>
          <p:cNvSpPr txBox="1"/>
          <p:nvPr/>
        </p:nvSpPr>
        <p:spPr>
          <a:xfrm>
            <a:off x="3315444" y="5785246"/>
            <a:ext cx="1276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Consistência ERP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3315444" y="6056709"/>
            <a:ext cx="1276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Validação de Leitura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3315444" y="6328171"/>
            <a:ext cx="1276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Cálculo de Consumo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1" name="Google Shape;17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81389" y="36099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"/>
          <p:cNvSpPr txBox="1"/>
          <p:nvPr/>
        </p:nvSpPr>
        <p:spPr>
          <a:xfrm>
            <a:off x="5552777" y="5785246"/>
            <a:ext cx="1295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Cálculo Financeiro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5552777" y="6056709"/>
            <a:ext cx="1295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Geração de Exceção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5552777" y="6328171"/>
            <a:ext cx="1295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(Fatura Retida)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5" name="Google Shape;175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13960" y="3581400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 txBox="1"/>
          <p:nvPr/>
        </p:nvSpPr>
        <p:spPr>
          <a:xfrm>
            <a:off x="7685335" y="5620047"/>
            <a:ext cx="1505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Análise de Padrões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7685335" y="5891510"/>
            <a:ext cx="1505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Score de Confiança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7685335" y="6162972"/>
            <a:ext cx="1505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Roteamento Inteligente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9" name="Google Shape;17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379868" y="36099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9946481" y="5785246"/>
            <a:ext cx="1438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Liberação Automática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9946481" y="6056709"/>
            <a:ext cx="1438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Revisão em Lote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9946481" y="6328171"/>
            <a:ext cx="1438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25"/>
              <a:buFont typeface="Lato"/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Análise Especialista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000"/>
              <a:buFont typeface="Poppins SemiBold"/>
              <a:buNone/>
            </a:pPr>
            <a:r>
              <a:rPr b="0" i="0" lang="en-US" sz="30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Posicionamento no Ciclo Meter-to-Cash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4" name="Google Shape;184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8085" y="578524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8085" y="6056709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8085" y="632817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24944" y="578524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24944" y="6056709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24944" y="632817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62277" y="578524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62277" y="6056709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62277" y="632817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94835" y="562004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94835" y="589151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494835" y="616297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55981" y="578524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55981" y="6056709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55981" y="6328171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50292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8F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FD8F0"/>
                </a:solidFill>
                <a:latin typeface="Arial"/>
                <a:ea typeface="Arial"/>
                <a:cs typeface="Arial"/>
                <a:sym typeface="Arial"/>
              </a:rPr>
              <a:t>BUSINESS CASE EXECUTIVO | UTILITIES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02920" y="749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2. A Oportunidade Estratégica com Inteligência Artificial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02920" y="1216152"/>
            <a:ext cx="73152" cy="310896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Estratégia &amp; Business Case: IA no Processo Meter-to-Cash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1430000" y="653796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85800" y="138988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700"/>
              <a:buFont typeface="Arial"/>
              <a:buNone/>
            </a:pPr>
            <a:r>
              <a:rPr lang="en-US" sz="17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IA muda a lógica do processo: de análise manual reativa para triagem preditiva orientada a risco.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914400" y="1920240"/>
            <a:ext cx="10378440" cy="1051560"/>
          </a:xfrm>
          <a:prstGeom prst="roundRect">
            <a:avLst>
              <a:gd fmla="val 6957" name="adj"/>
            </a:avLst>
          </a:prstGeom>
          <a:solidFill>
            <a:srgbClr val="E9FAF0"/>
          </a:solidFill>
          <a:ln cap="flat" cmpd="sng" w="12700">
            <a:solidFill>
              <a:srgbClr val="BDEA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1234440" y="2212848"/>
            <a:ext cx="9646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7A5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B7A53"/>
                </a:solidFill>
                <a:latin typeface="Arial"/>
                <a:ea typeface="Arial"/>
                <a:cs typeface="Arial"/>
                <a:sym typeface="Arial"/>
              </a:rPr>
              <a:t>“Dado que um documento já está em exceção, qual é a probabilidade real de ele ser liberado sem intervenção ou correção?”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6"/>
          <p:cNvCxnSpPr/>
          <p:nvPr/>
        </p:nvCxnSpPr>
        <p:spPr>
          <a:xfrm>
            <a:off x="3291840" y="4206240"/>
            <a:ext cx="658368" cy="0"/>
          </a:xfrm>
          <a:prstGeom prst="straightConnector1">
            <a:avLst/>
          </a:prstGeom>
          <a:noFill/>
          <a:ln cap="flat" cmpd="sng" w="254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5" name="Google Shape;215;p6"/>
          <p:cNvCxnSpPr/>
          <p:nvPr/>
        </p:nvCxnSpPr>
        <p:spPr>
          <a:xfrm>
            <a:off x="6766560" y="4206240"/>
            <a:ext cx="658368" cy="0"/>
          </a:xfrm>
          <a:prstGeom prst="straightConnector1">
            <a:avLst/>
          </a:prstGeom>
          <a:noFill/>
          <a:ln cap="flat" cmpd="sng" w="254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6" name="Google Shape;216;p6"/>
          <p:cNvSpPr/>
          <p:nvPr/>
        </p:nvSpPr>
        <p:spPr>
          <a:xfrm>
            <a:off x="914400" y="3703320"/>
            <a:ext cx="25146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1078992" y="3922776"/>
            <a:ext cx="502920" cy="502920"/>
          </a:xfrm>
          <a:prstGeom prst="ellipse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1078992" y="3986784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719072" y="39319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Exceção gerada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1719072" y="4233672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Documento retido por regras preventivas no faturamento.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389120" y="3703320"/>
            <a:ext cx="25146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4553712" y="3922776"/>
            <a:ext cx="502920" cy="502920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4553712" y="3986784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193792" y="39319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Score preditivo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5193792" y="4233672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036"/>
              <a:buFont typeface="Arial"/>
              <a:buNone/>
            </a:pPr>
            <a:r>
              <a:rPr lang="en-US" sz="1036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Modelo calcula a confiança usando histórico e contexto do caso.</a:t>
            </a:r>
            <a:endParaRPr sz="10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7863840" y="3703320"/>
            <a:ext cx="251460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8028432" y="3922776"/>
            <a:ext cx="502920" cy="502920"/>
          </a:xfrm>
          <a:prstGeom prst="ellipse">
            <a:avLst/>
          </a:prstGeom>
          <a:solidFill>
            <a:srgbClr val="0B7A53"/>
          </a:solidFill>
          <a:ln cap="flat" cmpd="sng" w="12700">
            <a:solidFill>
              <a:srgbClr val="0B7A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8028432" y="3986784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8668512" y="39319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123"/>
              <a:buFont typeface="Arial"/>
              <a:buNone/>
            </a:pPr>
            <a:r>
              <a:rPr b="1" lang="en-US" sz="1124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Tratamento inteligente</a:t>
            </a:r>
            <a:endParaRPr sz="112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8668512" y="4233672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Automação, revisão simplificada ou análise manual.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914400" y="5532120"/>
            <a:ext cx="10378440" cy="685800"/>
          </a:xfrm>
          <a:prstGeom prst="roundRect">
            <a:avLst>
              <a:gd fmla="val 10667" name="adj"/>
            </a:avLst>
          </a:prstGeom>
          <a:solidFill>
            <a:srgbClr val="EAF4FF"/>
          </a:solidFill>
          <a:ln cap="flat" cmpd="sng" w="12700">
            <a:solidFill>
              <a:srgbClr val="CFE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914400" y="5532120"/>
            <a:ext cx="64008" cy="685800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1170432" y="5687568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Objetivo final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2651760" y="568756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5"/>
              <a:buFont typeface="Arial"/>
              <a:buNone/>
            </a:pPr>
            <a:r>
              <a:rPr lang="en-US" sz="1105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Liberar em lote faturas de altíssima previsibilidade e baixo risco, isolando os casos realmente críticos para os especialistas.</a:t>
            </a:r>
            <a:endParaRPr sz="110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50292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8F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FD8F0"/>
                </a:solidFill>
                <a:latin typeface="Arial"/>
                <a:ea typeface="Arial"/>
                <a:cs typeface="Arial"/>
                <a:sym typeface="Arial"/>
              </a:rPr>
              <a:t>BUSINESS CASE EXECUTIVO | UTILITIES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02920" y="749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3. Como o Modelo Aprende e Calcula a Probabilidade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02920" y="1216152"/>
            <a:ext cx="73152" cy="310896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Estratégia &amp; Business Case: IA no Processo Meter-to-Cash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11430000" y="653796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85800" y="1389888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2"/>
              <a:buFont typeface="Arial"/>
              <a:buNone/>
            </a:pPr>
            <a:r>
              <a:rPr lang="en-US" sz="1403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modelo cruza variáveis em tempo de execução e compara o caso atual com o comportamento histórico de cenários semelhantes.</a:t>
            </a:r>
            <a:endParaRPr sz="140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85800" y="1993392"/>
            <a:ext cx="233172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850392" y="2221992"/>
            <a:ext cx="502920" cy="502920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850392" y="228600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1472184" y="226771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Consumo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886968" y="288036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63"/>
              <a:buFont typeface="Arial"/>
              <a:buNone/>
            </a:pPr>
            <a:r>
              <a:rPr lang="en-US" sz="1064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Histórico plurianual, consumo atual e sazonalidade climática/econômica.</a:t>
            </a:r>
            <a:endParaRPr sz="106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611880" y="1993392"/>
            <a:ext cx="233172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3776472" y="2221992"/>
            <a:ext cx="502920" cy="502920"/>
          </a:xfrm>
          <a:prstGeom prst="ellipse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3776472" y="228600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398264" y="226771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Faturamento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3813048" y="288036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Valor faturado, desvios do faturamento médio e histórico de exceções.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537960" y="1993392"/>
            <a:ext cx="233172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6702552" y="2221992"/>
            <a:ext cx="502920" cy="502920"/>
          </a:xfrm>
          <a:prstGeom prst="ellipse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6702552" y="228600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7324344" y="226771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Cadastro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6739128" y="288036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Classe de consumo, grupo tarifário e características técnicas da instalação.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9464040" y="1993392"/>
            <a:ext cx="2331720" cy="173736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9628632" y="2221992"/>
            <a:ext cx="502920" cy="502920"/>
          </a:xfrm>
          <a:prstGeom prst="ellipse">
            <a:avLst/>
          </a:prstGeom>
          <a:solidFill>
            <a:srgbClr val="0B7A53"/>
          </a:solidFill>
          <a:ln cap="flat" cmpd="sng" w="12700">
            <a:solidFill>
              <a:srgbClr val="0B7A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9628632" y="228600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10250424" y="226771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Operação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9665208" y="2880360"/>
            <a:ext cx="1874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Motivo da exceção e correlação com resultados recentes similares.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685800" y="4224528"/>
            <a:ext cx="5074920" cy="1298448"/>
          </a:xfrm>
          <a:prstGeom prst="roundRect">
            <a:avLst>
              <a:gd fmla="val 5634" name="adj"/>
            </a:avLst>
          </a:prstGeom>
          <a:solidFill>
            <a:srgbClr val="F7FAFE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685800" y="4224528"/>
            <a:ext cx="64008" cy="1298448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960120" y="44439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Conceito de Aprendizado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960120" y="4773168"/>
            <a:ext cx="44074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37"/>
              <a:buFont typeface="Arial"/>
              <a:buNone/>
            </a:pPr>
            <a:r>
              <a:rPr lang="en-US" sz="103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IA mapeia decisões passadas dos especialistas e relaciona características técnicas/comerciais com o desfecho final: liberação direta ou modificação dos valores.</a:t>
            </a:r>
            <a:endParaRPr sz="103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6172200" y="4224528"/>
            <a:ext cx="5120640" cy="1298448"/>
          </a:xfrm>
          <a:prstGeom prst="roundRect">
            <a:avLst>
              <a:gd fmla="val 5634" name="adj"/>
            </a:avLst>
          </a:prstGeom>
          <a:solidFill>
            <a:srgbClr val="FFF2E8"/>
          </a:solidFill>
          <a:ln cap="flat" cmpd="sng" w="12700">
            <a:solidFill>
              <a:srgbClr val="FAD4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6172200" y="4224528"/>
            <a:ext cx="64008" cy="1298448"/>
          </a:xfrm>
          <a:prstGeom prst="rect">
            <a:avLst/>
          </a:prstGeom>
          <a:solidFill>
            <a:srgbClr val="F15A24"/>
          </a:solidFill>
          <a:ln cap="flat" cmpd="sng" w="12700">
            <a:solidFill>
              <a:srgbClr val="F15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6446520" y="444398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481C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B4481C"/>
                </a:solidFill>
                <a:latin typeface="Arial"/>
                <a:ea typeface="Arial"/>
                <a:cs typeface="Arial"/>
                <a:sym typeface="Arial"/>
              </a:rPr>
              <a:t>Ponto crítico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6446520" y="4773168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37"/>
              <a:buFont typeface="Arial"/>
              <a:buNone/>
            </a:pPr>
            <a:r>
              <a:rPr lang="en-US" sz="1037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Dados inconsistentes geram aprendizado enviesado. A base precisa estar saneada, rotulada e livre de ruídos cadastrais antes do treinamento.</a:t>
            </a:r>
            <a:endParaRPr sz="103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1150"/>
            <a:ext cx="5286375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81150"/>
            <a:ext cx="5286375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105275"/>
            <a:ext cx="45053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962025" y="19716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Poppins SemiBold"/>
              <a:buNone/>
            </a:pPr>
            <a:r>
              <a:rPr b="0" i="0" lang="en-US" sz="21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Entradas de Dados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962025" y="256222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modelo cruza múltiplas dimensões para gerar o score de confiança: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6724650" y="19716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Poppins SemiBold"/>
              <a:buNone/>
            </a:pPr>
            <a:r>
              <a:rPr b="0" i="0" lang="en-US" sz="21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Modelos e Avaliação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6724650" y="270510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São avaliados algoritmos avançados como </a:t>
            </a: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Random Forest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Gradient Boosting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Regressão Logística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garantir a maior acurácia.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1247775" y="3324225"/>
            <a:ext cx="42195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Dados de Consumo: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Consumo atual, histórico e sazonalidade.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1247775" y="4038600"/>
            <a:ext cx="42195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Dados de Faturamento: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Valor faturado e histórico de desvios.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1247775" y="4752975"/>
            <a:ext cx="42195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Dados Cadastrais: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Classe, grupo tarifário e instalação.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1247775" y="5467350"/>
            <a:ext cx="4219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Lato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Dados Operacionais: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Motivos da exceção atual.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6953250" y="4295775"/>
            <a:ext cx="42905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O Desafio dos Dados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6953250" y="4676775"/>
            <a:ext cx="40862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1337"/>
              </a:buClr>
              <a:buSzPts val="1350"/>
              <a:buFont typeface="Lato"/>
              <a:buNone/>
            </a:pPr>
            <a:r>
              <a:rPr b="0" i="0" lang="en-US" sz="1350" u="none" cap="none" strike="noStrike">
                <a:solidFill>
                  <a:srgbClr val="881337"/>
                </a:solidFill>
                <a:latin typeface="Lato"/>
                <a:ea typeface="Lato"/>
                <a:cs typeface="Lato"/>
                <a:sym typeface="Lato"/>
              </a:rPr>
              <a:t>A precisão da IA depende diretamente da qualidade da informação. O principal desafio do projeto é </a:t>
            </a:r>
            <a:r>
              <a:rPr b="1" i="0" lang="en-US" sz="1350" u="none" cap="none" strike="noStrike">
                <a:solidFill>
                  <a:srgbClr val="881337"/>
                </a:solidFill>
                <a:latin typeface="Lato"/>
                <a:ea typeface="Lato"/>
                <a:cs typeface="Lato"/>
                <a:sym typeface="Lato"/>
              </a:rPr>
              <a:t>garantir dados confiáveis, estruturados e limpos</a:t>
            </a:r>
            <a:r>
              <a:rPr b="0" i="0" lang="en-US" sz="1350" u="none" cap="none" strike="noStrike">
                <a:solidFill>
                  <a:srgbClr val="881337"/>
                </a:solidFill>
                <a:latin typeface="Lato"/>
                <a:ea typeface="Lato"/>
                <a:cs typeface="Lato"/>
                <a:sym typeface="Lato"/>
              </a:rPr>
              <a:t> para o treinamento eficaz do modelo.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5" name="Google Shape;29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5325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8"/>
          <p:cNvSpPr txBox="1"/>
          <p:nvPr/>
        </p:nvSpPr>
        <p:spPr>
          <a:xfrm>
            <a:off x="571500" y="6286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000"/>
              <a:buFont typeface="Poppins SemiBold"/>
              <a:buNone/>
            </a:pPr>
            <a:r>
              <a:rPr b="0" i="0" lang="en-US" sz="30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Como o Modelo Funciona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7" name="Google Shape;297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334327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40576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47720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5486400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50292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8F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FD8F0"/>
                </a:solidFill>
                <a:latin typeface="Arial"/>
                <a:ea typeface="Arial"/>
                <a:cs typeface="Arial"/>
                <a:sym typeface="Arial"/>
              </a:rPr>
              <a:t>BUSINESS CASE EXECUTIVO | UTILITIES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502920" y="749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4. Arquitetura de Integração e Modelagem Customizada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02920" y="1216152"/>
            <a:ext cx="73152" cy="310896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Estratégia &amp; Business Case: IA no Processo Meter-to-Cash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11430000" y="653796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685800" y="1389888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78"/>
              <a:buFont typeface="Arial"/>
              <a:buNone/>
            </a:pPr>
            <a:r>
              <a:rPr lang="en-US" sz="1279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estratégia posiciona o SAP como motor centralizador e integrador, consumindo dados em larga escala para modelos preditivos sob medida.</a:t>
            </a:r>
            <a:endParaRPr sz="127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9"/>
          <p:cNvCxnSpPr/>
          <p:nvPr/>
        </p:nvCxnSpPr>
        <p:spPr>
          <a:xfrm>
            <a:off x="2130552" y="2807208"/>
            <a:ext cx="566928" cy="0"/>
          </a:xfrm>
          <a:prstGeom prst="straightConnector1">
            <a:avLst/>
          </a:prstGeom>
          <a:noFill/>
          <a:ln cap="flat" cmpd="sng" w="254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" name="Google Shape;315;p9"/>
          <p:cNvCxnSpPr/>
          <p:nvPr/>
        </p:nvCxnSpPr>
        <p:spPr>
          <a:xfrm>
            <a:off x="4443984" y="2807208"/>
            <a:ext cx="566928" cy="0"/>
          </a:xfrm>
          <a:prstGeom prst="straightConnector1">
            <a:avLst/>
          </a:prstGeom>
          <a:noFill/>
          <a:ln cap="flat" cmpd="sng" w="254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" name="Google Shape;316;p9"/>
          <p:cNvCxnSpPr/>
          <p:nvPr/>
        </p:nvCxnSpPr>
        <p:spPr>
          <a:xfrm>
            <a:off x="6766560" y="2807208"/>
            <a:ext cx="566928" cy="0"/>
          </a:xfrm>
          <a:prstGeom prst="straightConnector1">
            <a:avLst/>
          </a:prstGeom>
          <a:noFill/>
          <a:ln cap="flat" cmpd="sng" w="254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7" name="Google Shape;317;p9"/>
          <p:cNvCxnSpPr/>
          <p:nvPr/>
        </p:nvCxnSpPr>
        <p:spPr>
          <a:xfrm>
            <a:off x="9098280" y="2807208"/>
            <a:ext cx="566928" cy="0"/>
          </a:xfrm>
          <a:prstGeom prst="straightConnector1">
            <a:avLst/>
          </a:prstGeom>
          <a:noFill/>
          <a:ln cap="flat" cmpd="sng" w="254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p9"/>
          <p:cNvSpPr/>
          <p:nvPr/>
        </p:nvSpPr>
        <p:spPr>
          <a:xfrm>
            <a:off x="685800" y="2331720"/>
            <a:ext cx="1627632" cy="1115568"/>
          </a:xfrm>
          <a:prstGeom prst="roundRect">
            <a:avLst>
              <a:gd fmla="val 6557" name="adj"/>
            </a:avLst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786384" y="25328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SAP Utilities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795528" y="2862072"/>
            <a:ext cx="1389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4F7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CFE4F7"/>
                </a:solidFill>
                <a:latin typeface="Arial"/>
                <a:ea typeface="Arial"/>
                <a:cs typeface="Arial"/>
                <a:sym typeface="Arial"/>
              </a:rPr>
              <a:t>Documentos, consumo, cadastro, faturamento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2999232" y="2331720"/>
            <a:ext cx="1627632" cy="1115568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3099816" y="25328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Camada de Dados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108960" y="2862072"/>
            <a:ext cx="1389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Extração segura e em tempo real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5321808" y="2331720"/>
            <a:ext cx="1627632" cy="1115568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5422392" y="25328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Modelo ML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5431536" y="2862072"/>
            <a:ext cx="1389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Treinamento e score preditivo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7653528" y="2331720"/>
            <a:ext cx="1627632" cy="1115568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7754112" y="25328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Motor de Decisão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7763256" y="2862072"/>
            <a:ext cx="1389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Faixas de confiança operacional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9966960" y="2331720"/>
            <a:ext cx="1627632" cy="1115568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10067544" y="253288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Faturamento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10076688" y="2862072"/>
            <a:ext cx="13898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Liberação, revisão ou retenção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685800" y="4096512"/>
            <a:ext cx="5212080" cy="1234440"/>
          </a:xfrm>
          <a:prstGeom prst="roundRect">
            <a:avLst>
              <a:gd fmla="val 5926" name="adj"/>
            </a:avLst>
          </a:prstGeom>
          <a:solidFill>
            <a:srgbClr val="EAF4FF"/>
          </a:solidFill>
          <a:ln cap="flat" cmpd="sng" w="12700">
            <a:solidFill>
              <a:srgbClr val="CFE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685800" y="4096512"/>
            <a:ext cx="64008" cy="1234440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987552" y="431596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Função estratégica da SAP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987552" y="4663440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19"/>
              <a:buFont typeface="Arial"/>
              <a:buNone/>
            </a:pPr>
            <a:r>
              <a:rPr lang="en-US" sz="1119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Disponibilizar conectividade robusta e dados transacionais seguros para que sistemas especialistas externos treinem e executem modelos avançados.</a:t>
            </a:r>
            <a:endParaRPr sz="111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6263640" y="4096512"/>
            <a:ext cx="50292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6565392" y="431596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Modelos avaliados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6565392" y="4617720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160"/>
              <a:buFont typeface="Arial"/>
              <a:buNone/>
            </a:pPr>
            <a:r>
              <a:rPr b="1" lang="en-US" sz="116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r>
              <a:rPr lang="en-US" sz="116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para relações não lineares e dados categóricos.</a:t>
            </a:r>
            <a:br>
              <a:rPr lang="en-US" sz="116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16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Gradient Boosting</a:t>
            </a:r>
            <a:r>
              <a:rPr lang="en-US" sz="116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para precisão em tendências e desvios.</a:t>
            </a:r>
            <a:br>
              <a:rPr lang="en-US" sz="116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16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Regressão Logística</a:t>
            </a:r>
            <a:r>
              <a:rPr lang="en-US" sz="116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como baseline interpretável.</a:t>
            </a:r>
            <a:endParaRPr sz="11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685800" y="5650992"/>
            <a:ext cx="10607040" cy="475488"/>
          </a:xfrm>
          <a:prstGeom prst="roundRect">
            <a:avLst>
              <a:gd fmla="val 15385" name="adj"/>
            </a:avLst>
          </a:prstGeom>
          <a:solidFill>
            <a:srgbClr val="F8FBFF"/>
          </a:solidFill>
          <a:ln cap="flat" cmpd="sng" w="12700">
            <a:solidFill>
              <a:srgbClr val="E4E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914400" y="5806440"/>
            <a:ext cx="9875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091"/>
              <a:buFont typeface="Arial"/>
              <a:buNone/>
            </a:pPr>
            <a:r>
              <a:rPr b="1" lang="en-US" sz="1092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Tese central: ferramentas genéricas servem como templates; impacto escalável em Utilities exige modelos customizados.</a:t>
            </a:r>
            <a:endParaRPr sz="109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50292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8F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FD8F0"/>
                </a:solidFill>
                <a:latin typeface="Arial"/>
                <a:ea typeface="Arial"/>
                <a:cs typeface="Arial"/>
                <a:sym typeface="Arial"/>
              </a:rPr>
              <a:t>BUSINESS CASE EXECUTIVO | UTILITIES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02920" y="749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5. Matriz de Decisão e Fluxo Inteligente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502920" y="1216152"/>
            <a:ext cx="73152" cy="310896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Estratégia &amp; Business Case: IA no Processo Meter-to-Cash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11430000" y="653796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685800" y="1389888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2"/>
              <a:buFont typeface="Arial"/>
              <a:buNone/>
            </a:pPr>
            <a:r>
              <a:rPr lang="en-US" sz="1403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operação passa a ser regida por faixas de confiança probabilística, criando uma camada de triagem inteligente no faturamento.</a:t>
            </a:r>
            <a:endParaRPr sz="140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685800" y="2011680"/>
            <a:ext cx="10835640" cy="594360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914400" y="2139696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Arial"/>
              <a:buNone/>
            </a:pPr>
            <a:r>
              <a:rPr b="1" lang="en-US" sz="1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Probabilidade</a:t>
            </a:r>
            <a:endParaRPr sz="11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Arial"/>
              <a:buNone/>
            </a:pPr>
            <a:r>
              <a:rPr b="1" lang="en-US" sz="11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Calculada</a:t>
            </a:r>
            <a:endParaRPr sz="115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337560" y="221284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Tratamento Operacional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6720840" y="221284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Impacto Prático no Processo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685800" y="2606040"/>
            <a:ext cx="10835640" cy="8046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0" name="Google Shape;360;p10"/>
          <p:cNvCxnSpPr/>
          <p:nvPr/>
        </p:nvCxnSpPr>
        <p:spPr>
          <a:xfrm>
            <a:off x="3108960" y="2606040"/>
            <a:ext cx="0" cy="804672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0"/>
          <p:cNvCxnSpPr/>
          <p:nvPr/>
        </p:nvCxnSpPr>
        <p:spPr>
          <a:xfrm>
            <a:off x="6492240" y="2606040"/>
            <a:ext cx="0" cy="804672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0"/>
          <p:cNvSpPr/>
          <p:nvPr/>
        </p:nvSpPr>
        <p:spPr>
          <a:xfrm>
            <a:off x="914400" y="2880360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&gt; 90% de Confiança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3337560" y="2825496"/>
            <a:ext cx="2084832" cy="329184"/>
          </a:xfrm>
          <a:prstGeom prst="roundRect">
            <a:avLst>
              <a:gd fmla="val 11111" name="adj"/>
            </a:avLst>
          </a:prstGeom>
          <a:solidFill>
            <a:srgbClr val="DDF8EA"/>
          </a:solidFill>
          <a:ln cap="flat" cmpd="sng" w="12700">
            <a:solidFill>
              <a:srgbClr val="DDF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3447288" y="2926080"/>
            <a:ext cx="18470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7A53"/>
              </a:buClr>
              <a:buSzPts val="736"/>
              <a:buFont typeface="Arial"/>
              <a:buNone/>
            </a:pPr>
            <a:r>
              <a:rPr b="1" lang="en-US" sz="736">
                <a:solidFill>
                  <a:srgbClr val="0B7A53"/>
                </a:solidFill>
                <a:latin typeface="Arial"/>
                <a:ea typeface="Arial"/>
                <a:cs typeface="Arial"/>
                <a:sym typeface="Arial"/>
              </a:rPr>
              <a:t>LIBERAÇÃO AUTOMÁTICA</a:t>
            </a:r>
            <a:endParaRPr sz="7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720840" y="2779776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fatura é aprovada instantaneamente, sem toque humano, reduzindo o tempo de emissão.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685800" y="3410712"/>
            <a:ext cx="10835640" cy="804672"/>
          </a:xfrm>
          <a:prstGeom prst="rect">
            <a:avLst/>
          </a:prstGeom>
          <a:solidFill>
            <a:srgbClr val="F5F8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7" name="Google Shape;367;p10"/>
          <p:cNvCxnSpPr/>
          <p:nvPr/>
        </p:nvCxnSpPr>
        <p:spPr>
          <a:xfrm>
            <a:off x="3108960" y="3410712"/>
            <a:ext cx="0" cy="804672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10"/>
          <p:cNvCxnSpPr/>
          <p:nvPr/>
        </p:nvCxnSpPr>
        <p:spPr>
          <a:xfrm>
            <a:off x="6492240" y="3410712"/>
            <a:ext cx="0" cy="804672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10"/>
          <p:cNvSpPr/>
          <p:nvPr/>
        </p:nvSpPr>
        <p:spPr>
          <a:xfrm>
            <a:off x="914400" y="3685032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70% a 90% de Confiança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3337560" y="3630168"/>
            <a:ext cx="2084832" cy="329184"/>
          </a:xfrm>
          <a:prstGeom prst="roundRect">
            <a:avLst>
              <a:gd fmla="val 11111" name="adj"/>
            </a:avLst>
          </a:prstGeom>
          <a:solidFill>
            <a:srgbClr val="FFF3B8"/>
          </a:solidFill>
          <a:ln cap="flat" cmpd="sng" w="12700">
            <a:solidFill>
              <a:srgbClr val="FFF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3447288" y="3730752"/>
            <a:ext cx="18470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A6B00"/>
              </a:buClr>
              <a:buSzPts val="736"/>
              <a:buFont typeface="Arial"/>
              <a:buNone/>
            </a:pPr>
            <a:r>
              <a:rPr b="1" lang="en-US" sz="736">
                <a:solidFill>
                  <a:srgbClr val="9A6B00"/>
                </a:solidFill>
                <a:latin typeface="Arial"/>
                <a:ea typeface="Arial"/>
                <a:cs typeface="Arial"/>
                <a:sym typeface="Arial"/>
              </a:rPr>
              <a:t>REVISÃO SIMPLIFICADA</a:t>
            </a:r>
            <a:endParaRPr sz="7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6720840" y="3584448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Agrupamento em lotes homogêneos para validação rápida e semi-automatizada pelos analistas.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685800" y="4215384"/>
            <a:ext cx="10835640" cy="8046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4" name="Google Shape;374;p10"/>
          <p:cNvCxnSpPr/>
          <p:nvPr/>
        </p:nvCxnSpPr>
        <p:spPr>
          <a:xfrm>
            <a:off x="3108960" y="4215384"/>
            <a:ext cx="0" cy="804672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10"/>
          <p:cNvCxnSpPr/>
          <p:nvPr/>
        </p:nvCxnSpPr>
        <p:spPr>
          <a:xfrm>
            <a:off x="6492240" y="4215384"/>
            <a:ext cx="0" cy="804672"/>
          </a:xfrm>
          <a:prstGeom prst="straightConnector1">
            <a:avLst/>
          </a:prstGeom>
          <a:noFill/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" name="Google Shape;376;p10"/>
          <p:cNvSpPr/>
          <p:nvPr/>
        </p:nvSpPr>
        <p:spPr>
          <a:xfrm>
            <a:off x="914400" y="4489704"/>
            <a:ext cx="1874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&lt; 70% de Confiança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3337560" y="4434840"/>
            <a:ext cx="2084832" cy="329184"/>
          </a:xfrm>
          <a:prstGeom prst="roundRect">
            <a:avLst>
              <a:gd fmla="val 11111" name="adj"/>
            </a:avLst>
          </a:prstGeom>
          <a:solidFill>
            <a:srgbClr val="FDE1E1"/>
          </a:solidFill>
          <a:ln cap="flat" cmpd="sng" w="12700">
            <a:solidFill>
              <a:srgbClr val="FDE1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3447288" y="4535424"/>
            <a:ext cx="18470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43B3B"/>
              </a:buClr>
              <a:buSzPts val="736"/>
              <a:buFont typeface="Arial"/>
              <a:buNone/>
            </a:pPr>
            <a:r>
              <a:rPr b="1" lang="en-US" sz="736">
                <a:solidFill>
                  <a:srgbClr val="A43B3B"/>
                </a:solidFill>
                <a:latin typeface="Arial"/>
                <a:ea typeface="Arial"/>
                <a:cs typeface="Arial"/>
                <a:sym typeface="Arial"/>
              </a:rPr>
              <a:t>ANÁLISE MANUAL</a:t>
            </a:r>
            <a:endParaRPr sz="73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6720840" y="4389120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Direcionamento prioritário para especialistas investigarem fraudes, erros graves ou falhas de leitura.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685800" y="5257800"/>
            <a:ext cx="10835640" cy="658368"/>
          </a:xfrm>
          <a:prstGeom prst="roundRect">
            <a:avLst>
              <a:gd fmla="val 11111" name="adj"/>
            </a:avLst>
          </a:prstGeom>
          <a:solidFill>
            <a:srgbClr val="F7FAFE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685800" y="5257800"/>
            <a:ext cx="64008" cy="658368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960120" y="5468112"/>
            <a:ext cx="9784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147"/>
              <a:buFont typeface="Arial"/>
              <a:buNone/>
            </a:pPr>
            <a:r>
              <a:rPr b="1" lang="en-US" sz="1147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Ganho operacional: a fila deixa de ser única e passa a ser priorizada por risco, previsibilidade e impacto no fechamento mensal.</a:t>
            </a:r>
            <a:endParaRPr sz="11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50292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8F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FD8F0"/>
                </a:solidFill>
                <a:latin typeface="Arial"/>
                <a:ea typeface="Arial"/>
                <a:cs typeface="Arial"/>
                <a:sym typeface="Arial"/>
              </a:rPr>
              <a:t>BUSINESS CASE EXECUTIVO | UTILITIES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502920" y="749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6. Exemplo de Aplicação Prática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502920" y="1216152"/>
            <a:ext cx="73152" cy="310896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Estratégia &amp; Business Case: IA no Processo Meter-to-Cash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11430000" y="653796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685800" y="1389888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78"/>
              <a:buFont typeface="Arial"/>
              <a:buNone/>
            </a:pPr>
            <a:r>
              <a:rPr lang="en-US" sz="1279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Três documentos em exceção podem receber tratamentos completamente diferentes, dependendo do padrão histórico e da confiança calculada.</a:t>
            </a:r>
            <a:endParaRPr sz="127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685800" y="2011680"/>
            <a:ext cx="3291840" cy="347472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914400" y="2286000"/>
            <a:ext cx="1024128" cy="475488"/>
          </a:xfrm>
          <a:prstGeom prst="roundRect">
            <a:avLst>
              <a:gd fmla="val 9615" name="adj"/>
            </a:avLst>
          </a:prstGeom>
          <a:solidFill>
            <a:srgbClr val="DDF8EA"/>
          </a:solidFill>
          <a:ln cap="flat" cmpd="sng" w="12700">
            <a:solidFill>
              <a:srgbClr val="DDF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914400" y="2395728"/>
            <a:ext cx="10241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A5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B7A53"/>
                </a:solidFill>
                <a:latin typeface="Arial"/>
                <a:ea typeface="Arial"/>
                <a:cs typeface="Arial"/>
                <a:sym typeface="Arial"/>
              </a:rPr>
              <a:t>96%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2103120" y="235000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Documento A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" name="Google Shape;400;p11"/>
          <p:cNvCxnSpPr/>
          <p:nvPr/>
        </p:nvCxnSpPr>
        <p:spPr>
          <a:xfrm>
            <a:off x="960120" y="3063240"/>
            <a:ext cx="2697480" cy="0"/>
          </a:xfrm>
          <a:prstGeom prst="straightConnector1">
            <a:avLst/>
          </a:prstGeom>
          <a:noFill/>
          <a:ln cap="flat" cmpd="sng" w="12700">
            <a:solidFill>
              <a:srgbClr val="E3EA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11"/>
          <p:cNvSpPr/>
          <p:nvPr/>
        </p:nvSpPr>
        <p:spPr>
          <a:xfrm>
            <a:off x="960120" y="336499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Leitura do cenário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960120" y="36576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Oscilação comum e recorrente de perfil sazonal.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960120" y="440740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Ação recomendada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960120" y="468172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A53"/>
              </a:buClr>
              <a:buSzPts val="1270"/>
              <a:buFont typeface="Arial"/>
              <a:buNone/>
            </a:pPr>
            <a:r>
              <a:rPr b="1" lang="en-US" sz="1270">
                <a:solidFill>
                  <a:srgbClr val="0B7A53"/>
                </a:solidFill>
                <a:latin typeface="Arial"/>
                <a:ea typeface="Arial"/>
                <a:cs typeface="Arial"/>
                <a:sym typeface="Arial"/>
              </a:rPr>
              <a:t>Liberado automaticamente</a:t>
            </a:r>
            <a:endParaRPr sz="12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4370832" y="2011680"/>
            <a:ext cx="3291840" cy="347472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4599432" y="2286000"/>
            <a:ext cx="1024128" cy="475488"/>
          </a:xfrm>
          <a:prstGeom prst="roundRect">
            <a:avLst>
              <a:gd fmla="val 9615" name="adj"/>
            </a:avLst>
          </a:prstGeom>
          <a:solidFill>
            <a:srgbClr val="FFF3B8"/>
          </a:solidFill>
          <a:ln cap="flat" cmpd="sng" w="12700">
            <a:solidFill>
              <a:srgbClr val="FFF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4599432" y="2395728"/>
            <a:ext cx="10241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6B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9A6B00"/>
                </a:solidFill>
                <a:latin typeface="Arial"/>
                <a:ea typeface="Arial"/>
                <a:cs typeface="Arial"/>
                <a:sym typeface="Arial"/>
              </a:rPr>
              <a:t>84%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5788152" y="235000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Documento B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11"/>
          <p:cNvCxnSpPr/>
          <p:nvPr/>
        </p:nvCxnSpPr>
        <p:spPr>
          <a:xfrm>
            <a:off x="4645152" y="3063240"/>
            <a:ext cx="2697480" cy="0"/>
          </a:xfrm>
          <a:prstGeom prst="straightConnector1">
            <a:avLst/>
          </a:prstGeom>
          <a:noFill/>
          <a:ln cap="flat" cmpd="sng" w="12700">
            <a:solidFill>
              <a:srgbClr val="E3EA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11"/>
          <p:cNvSpPr/>
          <p:nvPr/>
        </p:nvSpPr>
        <p:spPr>
          <a:xfrm>
            <a:off x="4645152" y="336499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Leitura do cenário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4645152" y="36576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Desvio tarifário leve por mudança de faixa.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4645152" y="440740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Ação recomendada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4645152" y="468172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A6B00"/>
              </a:buClr>
              <a:buSzPts val="1174"/>
              <a:buFont typeface="Arial"/>
              <a:buNone/>
            </a:pPr>
            <a:r>
              <a:rPr b="1" lang="en-US" sz="1175">
                <a:solidFill>
                  <a:srgbClr val="9A6B00"/>
                </a:solidFill>
                <a:latin typeface="Arial"/>
                <a:ea typeface="Arial"/>
                <a:cs typeface="Arial"/>
                <a:sym typeface="Arial"/>
              </a:rPr>
              <a:t>Aprovação simplificada em um clique</a:t>
            </a:r>
            <a:endParaRPr sz="11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8046720" y="2011680"/>
            <a:ext cx="3291840" cy="347472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8275320" y="2286000"/>
            <a:ext cx="1024128" cy="475488"/>
          </a:xfrm>
          <a:prstGeom prst="roundRect">
            <a:avLst>
              <a:gd fmla="val 9615" name="adj"/>
            </a:avLst>
          </a:prstGeom>
          <a:solidFill>
            <a:srgbClr val="FDE1E1"/>
          </a:solidFill>
          <a:ln cap="flat" cmpd="sng" w="12700">
            <a:solidFill>
              <a:srgbClr val="FDE1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8275320" y="2395728"/>
            <a:ext cx="10241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43B3B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A43B3B"/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9464040" y="235000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Documento C</a:t>
            </a:r>
            <a:endParaRPr sz="15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8" name="Google Shape;418;p11"/>
          <p:cNvCxnSpPr/>
          <p:nvPr/>
        </p:nvCxnSpPr>
        <p:spPr>
          <a:xfrm>
            <a:off x="8321040" y="3063240"/>
            <a:ext cx="2697480" cy="0"/>
          </a:xfrm>
          <a:prstGeom prst="straightConnector1">
            <a:avLst/>
          </a:prstGeom>
          <a:noFill/>
          <a:ln cap="flat" cmpd="sng" w="12700">
            <a:solidFill>
              <a:srgbClr val="E3EA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11"/>
          <p:cNvSpPr/>
          <p:nvPr/>
        </p:nvSpPr>
        <p:spPr>
          <a:xfrm>
            <a:off x="8321040" y="3364992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Leitura do cenário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8321040" y="36576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0"/>
              <a:buFont typeface="Arial"/>
              <a:buNone/>
            </a:pPr>
            <a:r>
              <a:rPr lang="en-US" sz="124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Queda abrupta inexplicável, sem padrão similar.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8321040" y="440740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Ação recomendada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8321040" y="468172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43B3B"/>
              </a:buClr>
              <a:buSzPts val="1270"/>
              <a:buFont typeface="Arial"/>
              <a:buNone/>
            </a:pPr>
            <a:r>
              <a:rPr b="1" lang="en-US" sz="1270">
                <a:solidFill>
                  <a:srgbClr val="A43B3B"/>
                </a:solidFill>
                <a:latin typeface="Arial"/>
                <a:ea typeface="Arial"/>
                <a:cs typeface="Arial"/>
                <a:sym typeface="Arial"/>
              </a:rPr>
              <a:t>Retido para fiscalização/auditoria</a:t>
            </a:r>
            <a:endParaRPr sz="12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685800" y="5806440"/>
            <a:ext cx="10652760" cy="347472"/>
          </a:xfrm>
          <a:prstGeom prst="roundRect">
            <a:avLst>
              <a:gd fmla="val 21053" name="adj"/>
            </a:avLst>
          </a:prstGeom>
          <a:solidFill>
            <a:srgbClr val="F8FBFF"/>
          </a:solidFill>
          <a:ln cap="flat" cmpd="sng" w="12700">
            <a:solidFill>
              <a:srgbClr val="E4E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914400" y="5907024"/>
            <a:ext cx="98755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891"/>
              <a:buFont typeface="Arial"/>
              <a:buNone/>
            </a:pPr>
            <a:r>
              <a:rPr b="1" lang="en-US" sz="891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Resultado: especialistas deixam de gastar energia com casos repetitivos e concentram foco nos desvios complexos.</a:t>
            </a:r>
            <a:endParaRPr sz="89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73E7D"/>
          </a:solidFill>
          <a:ln cap="flat" cmpd="sng" w="12700">
            <a:solidFill>
              <a:srgbClr val="073E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0" y="621792"/>
            <a:ext cx="12191695" cy="50292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502920" y="16459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8F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BFD8F0"/>
                </a:solidFill>
                <a:latin typeface="Arial"/>
                <a:ea typeface="Arial"/>
                <a:cs typeface="Arial"/>
                <a:sym typeface="Arial"/>
              </a:rPr>
              <a:t>BUSINESS CASE EXECUTIVO | UTILITIES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502920" y="749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7. Geração de Valor e Visão de Futuro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502920" y="1216152"/>
            <a:ext cx="73152" cy="310896"/>
          </a:xfrm>
          <a:prstGeom prst="rect">
            <a:avLst/>
          </a:prstGeom>
          <a:solidFill>
            <a:srgbClr val="00A6D6"/>
          </a:solidFill>
          <a:ln cap="flat" cmpd="sng" w="127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502920" y="653796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Estratégia &amp; Business Case: IA no Processo Meter-to-Cash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11430000" y="6537960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6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C96A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685800" y="1389888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 transição para o modelo preditivo orientado a dados otimiza o ciclo Meter-to-Cash de ponta a ponta.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685800" y="1965960"/>
            <a:ext cx="3063240" cy="1353312"/>
          </a:xfrm>
          <a:prstGeom prst="roundRect">
            <a:avLst>
              <a:gd fmla="val 5405" name="adj"/>
            </a:avLst>
          </a:prstGeom>
          <a:solidFill>
            <a:srgbClr val="F7FAFE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868680" y="221284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Até 60%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941832" y="2697480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Redução de Esforço Manual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1005840" y="294436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1"/>
              <a:buFont typeface="Arial"/>
              <a:buNone/>
            </a:pPr>
            <a:r>
              <a:rPr lang="en-US" sz="901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Eliminação de análises redundantes em faturas recorrentes e seguras.</a:t>
            </a:r>
            <a:endParaRPr sz="9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4206240" y="1965960"/>
            <a:ext cx="3063240" cy="1353312"/>
          </a:xfrm>
          <a:prstGeom prst="roundRect">
            <a:avLst>
              <a:gd fmla="val 5405" name="adj"/>
            </a:avLst>
          </a:prstGeom>
          <a:solidFill>
            <a:srgbClr val="F7FAFE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4389120" y="221284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2.5x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4462272" y="2697480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Velocidade no Ciclo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4526280" y="294436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1"/>
              <a:buFont typeface="Arial"/>
              <a:buNone/>
            </a:pPr>
            <a:r>
              <a:rPr lang="en-US" sz="901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Redução drástica no tempo de retenção física de faturas legítimas.</a:t>
            </a:r>
            <a:endParaRPr sz="9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7726680" y="1965960"/>
            <a:ext cx="3063240" cy="1353312"/>
          </a:xfrm>
          <a:prstGeom prst="roundRect">
            <a:avLst>
              <a:gd fmla="val 5405" name="adj"/>
            </a:avLst>
          </a:prstGeom>
          <a:solidFill>
            <a:srgbClr val="F7FAFE"/>
          </a:solidFill>
          <a:ln cap="flat" cmpd="sng" w="12700">
            <a:solidFill>
              <a:srgbClr val="D7E2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7909560" y="2212848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7982712" y="2697480"/>
            <a:ext cx="2560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Valorização do Especialista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8046720" y="294436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1"/>
              <a:buFont typeface="Arial"/>
              <a:buNone/>
            </a:pPr>
            <a:r>
              <a:rPr lang="en-US" sz="901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Foco da equipe técnica em desvios complexos e prevenção de perdas reais.</a:t>
            </a:r>
            <a:endParaRPr sz="90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685800" y="37947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Próximos passos recomendados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p12"/>
          <p:cNvCxnSpPr/>
          <p:nvPr/>
        </p:nvCxnSpPr>
        <p:spPr>
          <a:xfrm>
            <a:off x="1911096" y="4590288"/>
            <a:ext cx="585216" cy="0"/>
          </a:xfrm>
          <a:prstGeom prst="straightConnector1">
            <a:avLst/>
          </a:prstGeom>
          <a:noFill/>
          <a:ln cap="flat" cmpd="sng" w="203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2" name="Google Shape;452;p12"/>
          <p:cNvCxnSpPr/>
          <p:nvPr/>
        </p:nvCxnSpPr>
        <p:spPr>
          <a:xfrm>
            <a:off x="4014216" y="4590288"/>
            <a:ext cx="585216" cy="0"/>
          </a:xfrm>
          <a:prstGeom prst="straightConnector1">
            <a:avLst/>
          </a:prstGeom>
          <a:noFill/>
          <a:ln cap="flat" cmpd="sng" w="203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3" name="Google Shape;453;p12"/>
          <p:cNvCxnSpPr/>
          <p:nvPr/>
        </p:nvCxnSpPr>
        <p:spPr>
          <a:xfrm>
            <a:off x="6117336" y="4590288"/>
            <a:ext cx="585216" cy="0"/>
          </a:xfrm>
          <a:prstGeom prst="straightConnector1">
            <a:avLst/>
          </a:prstGeom>
          <a:noFill/>
          <a:ln cap="flat" cmpd="sng" w="203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4" name="Google Shape;454;p12"/>
          <p:cNvCxnSpPr/>
          <p:nvPr/>
        </p:nvCxnSpPr>
        <p:spPr>
          <a:xfrm>
            <a:off x="8220456" y="4590288"/>
            <a:ext cx="585216" cy="0"/>
          </a:xfrm>
          <a:prstGeom prst="straightConnector1">
            <a:avLst/>
          </a:prstGeom>
          <a:noFill/>
          <a:ln cap="flat" cmpd="sng" w="20300">
            <a:solidFill>
              <a:srgbClr val="00A6D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5" name="Google Shape;455;p12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F15A24"/>
          </a:solidFill>
          <a:ln cap="flat" cmpd="sng" w="12700">
            <a:solidFill>
              <a:srgbClr val="F15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2"/>
          <p:cNvSpPr/>
          <p:nvPr/>
        </p:nvSpPr>
        <p:spPr>
          <a:xfrm>
            <a:off x="777240" y="444398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548640" y="5056632"/>
            <a:ext cx="987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80"/>
              <a:buFont typeface="Arial"/>
              <a:buNone/>
            </a:pPr>
            <a:r>
              <a:rPr b="1" lang="en-US" sz="98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Sanear base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2880360" y="4343400"/>
            <a:ext cx="502920" cy="502920"/>
          </a:xfrm>
          <a:prstGeom prst="ellipse">
            <a:avLst/>
          </a:prstGeom>
          <a:solidFill>
            <a:srgbClr val="F15A24"/>
          </a:solidFill>
          <a:ln cap="flat" cmpd="sng" w="12700">
            <a:solidFill>
              <a:srgbClr val="F15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2"/>
          <p:cNvSpPr/>
          <p:nvPr/>
        </p:nvSpPr>
        <p:spPr>
          <a:xfrm>
            <a:off x="2880360" y="444398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2651760" y="5056632"/>
            <a:ext cx="987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06"/>
              <a:buFont typeface="Arial"/>
              <a:buNone/>
            </a:pPr>
            <a:r>
              <a:rPr b="1" lang="en-US" sz="907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Rotular histórico</a:t>
            </a:r>
            <a:endParaRPr sz="90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4983480" y="4343400"/>
            <a:ext cx="502920" cy="502920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4983480" y="444398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4754880" y="5056632"/>
            <a:ext cx="987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80"/>
              <a:buFont typeface="Arial"/>
              <a:buNone/>
            </a:pPr>
            <a:r>
              <a:rPr b="1" lang="en-US" sz="980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Treinar baseline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7086600" y="4343400"/>
            <a:ext cx="502920" cy="502920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"/>
          <p:cNvSpPr/>
          <p:nvPr/>
        </p:nvSpPr>
        <p:spPr>
          <a:xfrm>
            <a:off x="7086600" y="444398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6858000" y="5056632"/>
            <a:ext cx="987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06"/>
              <a:buFont typeface="Arial"/>
              <a:buNone/>
            </a:pPr>
            <a:r>
              <a:rPr b="1" lang="en-US" sz="907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Piloto controlado</a:t>
            </a:r>
            <a:endParaRPr sz="90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9189720" y="4343400"/>
            <a:ext cx="502920" cy="502920"/>
          </a:xfrm>
          <a:prstGeom prst="ellipse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9189720" y="444398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8961120" y="5056632"/>
            <a:ext cx="9875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73E7D"/>
              </a:buClr>
              <a:buSzPts val="906"/>
              <a:buFont typeface="Arial"/>
              <a:buNone/>
            </a:pPr>
            <a:r>
              <a:rPr b="1" lang="en-US" sz="907">
                <a:solidFill>
                  <a:srgbClr val="073E7D"/>
                </a:solidFill>
                <a:latin typeface="Arial"/>
                <a:ea typeface="Arial"/>
                <a:cs typeface="Arial"/>
                <a:sym typeface="Arial"/>
              </a:rPr>
              <a:t>Automação por faixa</a:t>
            </a:r>
            <a:endParaRPr sz="90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685800" y="5650992"/>
            <a:ext cx="10698480" cy="621792"/>
          </a:xfrm>
          <a:prstGeom prst="roundRect">
            <a:avLst>
              <a:gd fmla="val 11765" name="adj"/>
            </a:avLst>
          </a:prstGeom>
          <a:solidFill>
            <a:srgbClr val="E9FAF0"/>
          </a:solidFill>
          <a:ln cap="flat" cmpd="sng" w="12700">
            <a:solidFill>
              <a:srgbClr val="BDEA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685800" y="5650992"/>
            <a:ext cx="64008" cy="621792"/>
          </a:xfrm>
          <a:prstGeom prst="rect">
            <a:avLst/>
          </a:prstGeom>
          <a:solidFill>
            <a:srgbClr val="0B7A53"/>
          </a:solidFill>
          <a:ln cap="flat" cmpd="sng" w="12700">
            <a:solidFill>
              <a:srgbClr val="0B7A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960120" y="5852160"/>
            <a:ext cx="9875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7A53"/>
              </a:buClr>
              <a:buSzPts val="1128"/>
              <a:buFont typeface="Arial"/>
              <a:buNone/>
            </a:pPr>
            <a:r>
              <a:rPr b="1" lang="en-US" sz="1129">
                <a:solidFill>
                  <a:srgbClr val="0B7A53"/>
                </a:solidFill>
                <a:latin typeface="Arial"/>
                <a:ea typeface="Arial"/>
                <a:cs typeface="Arial"/>
                <a:sym typeface="Arial"/>
              </a:rPr>
              <a:t>Conclusão: a companhia blinda receita, elimina gargalos operacionais crônicos e aumenta aderência às metas regulatórias de eficiência.</a:t>
            </a:r>
            <a:endParaRPr sz="112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2026-06-11T22:30:15Z</dcterms:created>
  <dc:creator>OpenAI</dc:creator>
</cp:coreProperties>
</file>